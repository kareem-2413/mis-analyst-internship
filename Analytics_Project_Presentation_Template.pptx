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DB7F94-7533-4C2A-94E6-17D6CD1012BD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7D09FD3-837E-4667-A0AC-8FD34ABA2FC7}">
      <dgm:prSet/>
      <dgm:spPr/>
      <dgm:t>
        <a:bodyPr/>
        <a:lstStyle/>
        <a:p>
          <a:r>
            <a:rPr lang="en-US"/>
            <a:t>Improve collections in high-overdue regions</a:t>
          </a:r>
        </a:p>
      </dgm:t>
    </dgm:pt>
    <dgm:pt modelId="{BF24EC20-EF33-4979-AD50-556E25227212}" type="parTrans" cxnId="{641BFBD5-BF2D-49AF-A780-41F99F570188}">
      <dgm:prSet/>
      <dgm:spPr/>
      <dgm:t>
        <a:bodyPr/>
        <a:lstStyle/>
        <a:p>
          <a:endParaRPr lang="en-US"/>
        </a:p>
      </dgm:t>
    </dgm:pt>
    <dgm:pt modelId="{F23F5489-80B6-4766-A30F-B6AC71F3E922}" type="sibTrans" cxnId="{641BFBD5-BF2D-49AF-A780-41F99F570188}">
      <dgm:prSet/>
      <dgm:spPr/>
      <dgm:t>
        <a:bodyPr/>
        <a:lstStyle/>
        <a:p>
          <a:endParaRPr lang="en-US"/>
        </a:p>
      </dgm:t>
    </dgm:pt>
    <dgm:pt modelId="{02B27F00-09F9-4E4C-AA13-B3D3E065BFA9}">
      <dgm:prSet/>
      <dgm:spPr/>
      <dgm:t>
        <a:bodyPr/>
        <a:lstStyle/>
        <a:p>
          <a:r>
            <a:rPr lang="en-US"/>
            <a:t>Optimize slow warehouses</a:t>
          </a:r>
        </a:p>
      </dgm:t>
    </dgm:pt>
    <dgm:pt modelId="{2BF6FC97-D414-47C7-8264-33AEE905AF97}" type="parTrans" cxnId="{B9525877-FD0D-4EAC-ACD4-9A1283BA001F}">
      <dgm:prSet/>
      <dgm:spPr/>
      <dgm:t>
        <a:bodyPr/>
        <a:lstStyle/>
        <a:p>
          <a:endParaRPr lang="en-US"/>
        </a:p>
      </dgm:t>
    </dgm:pt>
    <dgm:pt modelId="{06A7B57B-0DB3-481F-BBD9-A8002B0D4BB6}" type="sibTrans" cxnId="{B9525877-FD0D-4EAC-ACD4-9A1283BA001F}">
      <dgm:prSet/>
      <dgm:spPr/>
      <dgm:t>
        <a:bodyPr/>
        <a:lstStyle/>
        <a:p>
          <a:endParaRPr lang="en-US"/>
        </a:p>
      </dgm:t>
    </dgm:pt>
    <dgm:pt modelId="{828C1D17-E2BB-4A84-A907-53A255A2987B}">
      <dgm:prSet/>
      <dgm:spPr/>
      <dgm:t>
        <a:bodyPr/>
        <a:lstStyle/>
        <a:p>
          <a:r>
            <a:rPr lang="en-US"/>
            <a:t>Focus on high-conversion leads</a:t>
          </a:r>
        </a:p>
      </dgm:t>
    </dgm:pt>
    <dgm:pt modelId="{4C6976B6-E370-44B5-AC56-8197784209F9}" type="parTrans" cxnId="{453A9725-8B07-474E-A5AD-E8A4A7004364}">
      <dgm:prSet/>
      <dgm:spPr/>
      <dgm:t>
        <a:bodyPr/>
        <a:lstStyle/>
        <a:p>
          <a:endParaRPr lang="en-US"/>
        </a:p>
      </dgm:t>
    </dgm:pt>
    <dgm:pt modelId="{E8B66BAA-86E3-4B39-B6D3-C376B990F449}" type="sibTrans" cxnId="{453A9725-8B07-474E-A5AD-E8A4A7004364}">
      <dgm:prSet/>
      <dgm:spPr/>
      <dgm:t>
        <a:bodyPr/>
        <a:lstStyle/>
        <a:p>
          <a:endParaRPr lang="en-US"/>
        </a:p>
      </dgm:t>
    </dgm:pt>
    <dgm:pt modelId="{E749DC55-2492-454B-B0DD-D089C2CE38D1}">
      <dgm:prSet/>
      <dgm:spPr/>
      <dgm:t>
        <a:bodyPr/>
        <a:lstStyle/>
        <a:p>
          <a:r>
            <a:rPr lang="en-US"/>
            <a:t>Reallocate overspend budgets</a:t>
          </a:r>
        </a:p>
      </dgm:t>
    </dgm:pt>
    <dgm:pt modelId="{A005963C-5A02-4F16-98E0-531F70674EE9}" type="parTrans" cxnId="{20915DE0-EDC9-489C-9165-260EA4A5EE3F}">
      <dgm:prSet/>
      <dgm:spPr/>
      <dgm:t>
        <a:bodyPr/>
        <a:lstStyle/>
        <a:p>
          <a:endParaRPr lang="en-US"/>
        </a:p>
      </dgm:t>
    </dgm:pt>
    <dgm:pt modelId="{957A3278-F0CF-41F5-8D0D-B8940194D4D1}" type="sibTrans" cxnId="{20915DE0-EDC9-489C-9165-260EA4A5EE3F}">
      <dgm:prSet/>
      <dgm:spPr/>
      <dgm:t>
        <a:bodyPr/>
        <a:lstStyle/>
        <a:p>
          <a:endParaRPr lang="en-US"/>
        </a:p>
      </dgm:t>
    </dgm:pt>
    <dgm:pt modelId="{D420B15C-6C98-4C38-A400-32D3CCA05028}">
      <dgm:prSet/>
      <dgm:spPr/>
      <dgm:t>
        <a:bodyPr/>
        <a:lstStyle/>
        <a:p>
          <a:r>
            <a:rPr lang="en-US"/>
            <a:t>Improve data quality controls</a:t>
          </a:r>
        </a:p>
      </dgm:t>
    </dgm:pt>
    <dgm:pt modelId="{514B3B85-78B7-4838-82F5-7B45F7A96632}" type="parTrans" cxnId="{276EB6C7-27FD-420B-AD19-1067C5D5D3BF}">
      <dgm:prSet/>
      <dgm:spPr/>
      <dgm:t>
        <a:bodyPr/>
        <a:lstStyle/>
        <a:p>
          <a:endParaRPr lang="en-US"/>
        </a:p>
      </dgm:t>
    </dgm:pt>
    <dgm:pt modelId="{5768BB2A-D39B-4644-98FF-5BD233BBDA6D}" type="sibTrans" cxnId="{276EB6C7-27FD-420B-AD19-1067C5D5D3BF}">
      <dgm:prSet/>
      <dgm:spPr/>
      <dgm:t>
        <a:bodyPr/>
        <a:lstStyle/>
        <a:p>
          <a:endParaRPr lang="en-US"/>
        </a:p>
      </dgm:t>
    </dgm:pt>
    <dgm:pt modelId="{F061D9FA-BF26-49E7-B30B-F71290254E42}">
      <dgm:prSet/>
      <dgm:spPr/>
      <dgm:t>
        <a:bodyPr/>
        <a:lstStyle/>
        <a:p>
          <a:r>
            <a:rPr lang="en-US"/>
            <a:t>Better cash flow, efficiency, and reporting reliability</a:t>
          </a:r>
        </a:p>
      </dgm:t>
    </dgm:pt>
    <dgm:pt modelId="{E67FC511-9EC3-4A58-BD68-C89E6456A40D}" type="parTrans" cxnId="{8DF7FFD8-CC68-4FB1-ACCC-598700357331}">
      <dgm:prSet/>
      <dgm:spPr/>
      <dgm:t>
        <a:bodyPr/>
        <a:lstStyle/>
        <a:p>
          <a:endParaRPr lang="en-US"/>
        </a:p>
      </dgm:t>
    </dgm:pt>
    <dgm:pt modelId="{C845C577-E390-4B62-957E-0CE126F17924}" type="sibTrans" cxnId="{8DF7FFD8-CC68-4FB1-ACCC-598700357331}">
      <dgm:prSet/>
      <dgm:spPr/>
      <dgm:t>
        <a:bodyPr/>
        <a:lstStyle/>
        <a:p>
          <a:endParaRPr lang="en-US"/>
        </a:p>
      </dgm:t>
    </dgm:pt>
    <dgm:pt modelId="{DB614C8D-20DA-4B04-9530-31051DD532BA}" type="pres">
      <dgm:prSet presAssocID="{5FDB7F94-7533-4C2A-94E6-17D6CD1012BD}" presName="diagram" presStyleCnt="0">
        <dgm:presLayoutVars>
          <dgm:dir/>
          <dgm:resizeHandles val="exact"/>
        </dgm:presLayoutVars>
      </dgm:prSet>
      <dgm:spPr/>
    </dgm:pt>
    <dgm:pt modelId="{6A0B83B6-B402-4AA0-A907-58E8A4E5F662}" type="pres">
      <dgm:prSet presAssocID="{C7D09FD3-837E-4667-A0AC-8FD34ABA2FC7}" presName="node" presStyleLbl="node1" presStyleIdx="0" presStyleCnt="6">
        <dgm:presLayoutVars>
          <dgm:bulletEnabled val="1"/>
        </dgm:presLayoutVars>
      </dgm:prSet>
      <dgm:spPr/>
    </dgm:pt>
    <dgm:pt modelId="{A8E9A0AF-6F08-420E-B61E-89873A533CDE}" type="pres">
      <dgm:prSet presAssocID="{F23F5489-80B6-4766-A30F-B6AC71F3E922}" presName="sibTrans" presStyleCnt="0"/>
      <dgm:spPr/>
    </dgm:pt>
    <dgm:pt modelId="{62CC8D83-902C-42AA-8031-53402B89D9BA}" type="pres">
      <dgm:prSet presAssocID="{02B27F00-09F9-4E4C-AA13-B3D3E065BFA9}" presName="node" presStyleLbl="node1" presStyleIdx="1" presStyleCnt="6">
        <dgm:presLayoutVars>
          <dgm:bulletEnabled val="1"/>
        </dgm:presLayoutVars>
      </dgm:prSet>
      <dgm:spPr/>
    </dgm:pt>
    <dgm:pt modelId="{53D9EDAE-1E7F-496A-B710-9E739A2C1706}" type="pres">
      <dgm:prSet presAssocID="{06A7B57B-0DB3-481F-BBD9-A8002B0D4BB6}" presName="sibTrans" presStyleCnt="0"/>
      <dgm:spPr/>
    </dgm:pt>
    <dgm:pt modelId="{D31ED0E2-CC50-4BFF-99C5-F7748E0DC3FC}" type="pres">
      <dgm:prSet presAssocID="{828C1D17-E2BB-4A84-A907-53A255A2987B}" presName="node" presStyleLbl="node1" presStyleIdx="2" presStyleCnt="6">
        <dgm:presLayoutVars>
          <dgm:bulletEnabled val="1"/>
        </dgm:presLayoutVars>
      </dgm:prSet>
      <dgm:spPr/>
    </dgm:pt>
    <dgm:pt modelId="{99257416-C8A8-4440-AA6A-63234F6971FA}" type="pres">
      <dgm:prSet presAssocID="{E8B66BAA-86E3-4B39-B6D3-C376B990F449}" presName="sibTrans" presStyleCnt="0"/>
      <dgm:spPr/>
    </dgm:pt>
    <dgm:pt modelId="{68C538BE-AEF2-4408-BA81-87FEC947E36C}" type="pres">
      <dgm:prSet presAssocID="{E749DC55-2492-454B-B0DD-D089C2CE38D1}" presName="node" presStyleLbl="node1" presStyleIdx="3" presStyleCnt="6">
        <dgm:presLayoutVars>
          <dgm:bulletEnabled val="1"/>
        </dgm:presLayoutVars>
      </dgm:prSet>
      <dgm:spPr/>
    </dgm:pt>
    <dgm:pt modelId="{FD40DDD5-0F19-428E-99DD-A60E1CAA3728}" type="pres">
      <dgm:prSet presAssocID="{957A3278-F0CF-41F5-8D0D-B8940194D4D1}" presName="sibTrans" presStyleCnt="0"/>
      <dgm:spPr/>
    </dgm:pt>
    <dgm:pt modelId="{F084FA90-C8D2-449B-990F-A645FE97DB4F}" type="pres">
      <dgm:prSet presAssocID="{D420B15C-6C98-4C38-A400-32D3CCA05028}" presName="node" presStyleLbl="node1" presStyleIdx="4" presStyleCnt="6">
        <dgm:presLayoutVars>
          <dgm:bulletEnabled val="1"/>
        </dgm:presLayoutVars>
      </dgm:prSet>
      <dgm:spPr/>
    </dgm:pt>
    <dgm:pt modelId="{D34DE87D-14F1-401A-A418-46F42C6F8FDD}" type="pres">
      <dgm:prSet presAssocID="{5768BB2A-D39B-4644-98FF-5BD233BBDA6D}" presName="sibTrans" presStyleCnt="0"/>
      <dgm:spPr/>
    </dgm:pt>
    <dgm:pt modelId="{8103633C-58B0-43F3-9DAE-9B8D5374E40E}" type="pres">
      <dgm:prSet presAssocID="{F061D9FA-BF26-49E7-B30B-F71290254E42}" presName="node" presStyleLbl="node1" presStyleIdx="5" presStyleCnt="6">
        <dgm:presLayoutVars>
          <dgm:bulletEnabled val="1"/>
        </dgm:presLayoutVars>
      </dgm:prSet>
      <dgm:spPr/>
    </dgm:pt>
  </dgm:ptLst>
  <dgm:cxnLst>
    <dgm:cxn modelId="{ED70841C-1BB1-4553-90CD-5B55CA81DF82}" type="presOf" srcId="{02B27F00-09F9-4E4C-AA13-B3D3E065BFA9}" destId="{62CC8D83-902C-42AA-8031-53402B89D9BA}" srcOrd="0" destOrd="0" presId="urn:microsoft.com/office/officeart/2005/8/layout/default"/>
    <dgm:cxn modelId="{453A9725-8B07-474E-A5AD-E8A4A7004364}" srcId="{5FDB7F94-7533-4C2A-94E6-17D6CD1012BD}" destId="{828C1D17-E2BB-4A84-A907-53A255A2987B}" srcOrd="2" destOrd="0" parTransId="{4C6976B6-E370-44B5-AC56-8197784209F9}" sibTransId="{E8B66BAA-86E3-4B39-B6D3-C376B990F449}"/>
    <dgm:cxn modelId="{EAFD4D38-B7DD-4FFE-A1D7-2EBCEFD3BA76}" type="presOf" srcId="{E749DC55-2492-454B-B0DD-D089C2CE38D1}" destId="{68C538BE-AEF2-4408-BA81-87FEC947E36C}" srcOrd="0" destOrd="0" presId="urn:microsoft.com/office/officeart/2005/8/layout/default"/>
    <dgm:cxn modelId="{A409313B-AEA9-414B-8481-1F1591DBDCD2}" type="presOf" srcId="{D420B15C-6C98-4C38-A400-32D3CCA05028}" destId="{F084FA90-C8D2-449B-990F-A645FE97DB4F}" srcOrd="0" destOrd="0" presId="urn:microsoft.com/office/officeart/2005/8/layout/default"/>
    <dgm:cxn modelId="{B9525877-FD0D-4EAC-ACD4-9A1283BA001F}" srcId="{5FDB7F94-7533-4C2A-94E6-17D6CD1012BD}" destId="{02B27F00-09F9-4E4C-AA13-B3D3E065BFA9}" srcOrd="1" destOrd="0" parTransId="{2BF6FC97-D414-47C7-8264-33AEE905AF97}" sibTransId="{06A7B57B-0DB3-481F-BBD9-A8002B0D4BB6}"/>
    <dgm:cxn modelId="{8C41AB87-3D07-4994-8AFF-88A8C4815A9A}" type="presOf" srcId="{5FDB7F94-7533-4C2A-94E6-17D6CD1012BD}" destId="{DB614C8D-20DA-4B04-9530-31051DD532BA}" srcOrd="0" destOrd="0" presId="urn:microsoft.com/office/officeart/2005/8/layout/default"/>
    <dgm:cxn modelId="{5E63F895-9178-4245-A4D1-35DF071B0FC0}" type="presOf" srcId="{F061D9FA-BF26-49E7-B30B-F71290254E42}" destId="{8103633C-58B0-43F3-9DAE-9B8D5374E40E}" srcOrd="0" destOrd="0" presId="urn:microsoft.com/office/officeart/2005/8/layout/default"/>
    <dgm:cxn modelId="{B789C8C5-E690-48B6-9309-C11A0E7BC0F4}" type="presOf" srcId="{828C1D17-E2BB-4A84-A907-53A255A2987B}" destId="{D31ED0E2-CC50-4BFF-99C5-F7748E0DC3FC}" srcOrd="0" destOrd="0" presId="urn:microsoft.com/office/officeart/2005/8/layout/default"/>
    <dgm:cxn modelId="{276EB6C7-27FD-420B-AD19-1067C5D5D3BF}" srcId="{5FDB7F94-7533-4C2A-94E6-17D6CD1012BD}" destId="{D420B15C-6C98-4C38-A400-32D3CCA05028}" srcOrd="4" destOrd="0" parTransId="{514B3B85-78B7-4838-82F5-7B45F7A96632}" sibTransId="{5768BB2A-D39B-4644-98FF-5BD233BBDA6D}"/>
    <dgm:cxn modelId="{641BFBD5-BF2D-49AF-A780-41F99F570188}" srcId="{5FDB7F94-7533-4C2A-94E6-17D6CD1012BD}" destId="{C7D09FD3-837E-4667-A0AC-8FD34ABA2FC7}" srcOrd="0" destOrd="0" parTransId="{BF24EC20-EF33-4979-AD50-556E25227212}" sibTransId="{F23F5489-80B6-4766-A30F-B6AC71F3E922}"/>
    <dgm:cxn modelId="{8DF7FFD8-CC68-4FB1-ACCC-598700357331}" srcId="{5FDB7F94-7533-4C2A-94E6-17D6CD1012BD}" destId="{F061D9FA-BF26-49E7-B30B-F71290254E42}" srcOrd="5" destOrd="0" parTransId="{E67FC511-9EC3-4A58-BD68-C89E6456A40D}" sibTransId="{C845C577-E390-4B62-957E-0CE126F17924}"/>
    <dgm:cxn modelId="{20915DE0-EDC9-489C-9165-260EA4A5EE3F}" srcId="{5FDB7F94-7533-4C2A-94E6-17D6CD1012BD}" destId="{E749DC55-2492-454B-B0DD-D089C2CE38D1}" srcOrd="3" destOrd="0" parTransId="{A005963C-5A02-4F16-98E0-531F70674EE9}" sibTransId="{957A3278-F0CF-41F5-8D0D-B8940194D4D1}"/>
    <dgm:cxn modelId="{399086EE-2C70-4B95-8C66-CAE8505EC219}" type="presOf" srcId="{C7D09FD3-837E-4667-A0AC-8FD34ABA2FC7}" destId="{6A0B83B6-B402-4AA0-A907-58E8A4E5F662}" srcOrd="0" destOrd="0" presId="urn:microsoft.com/office/officeart/2005/8/layout/default"/>
    <dgm:cxn modelId="{7D50B321-F138-4138-A514-B507DC122178}" type="presParOf" srcId="{DB614C8D-20DA-4B04-9530-31051DD532BA}" destId="{6A0B83B6-B402-4AA0-A907-58E8A4E5F662}" srcOrd="0" destOrd="0" presId="urn:microsoft.com/office/officeart/2005/8/layout/default"/>
    <dgm:cxn modelId="{FD2FCC99-DFC9-4063-AD74-3584CA48C9BF}" type="presParOf" srcId="{DB614C8D-20DA-4B04-9530-31051DD532BA}" destId="{A8E9A0AF-6F08-420E-B61E-89873A533CDE}" srcOrd="1" destOrd="0" presId="urn:microsoft.com/office/officeart/2005/8/layout/default"/>
    <dgm:cxn modelId="{38FBF200-BB42-4D36-9C15-D49583C353B2}" type="presParOf" srcId="{DB614C8D-20DA-4B04-9530-31051DD532BA}" destId="{62CC8D83-902C-42AA-8031-53402B89D9BA}" srcOrd="2" destOrd="0" presId="urn:microsoft.com/office/officeart/2005/8/layout/default"/>
    <dgm:cxn modelId="{0871DC11-2E52-44A2-8C23-653C4E273904}" type="presParOf" srcId="{DB614C8D-20DA-4B04-9530-31051DD532BA}" destId="{53D9EDAE-1E7F-496A-B710-9E739A2C1706}" srcOrd="3" destOrd="0" presId="urn:microsoft.com/office/officeart/2005/8/layout/default"/>
    <dgm:cxn modelId="{8B874B77-C72C-45B1-92C5-12F5280F168B}" type="presParOf" srcId="{DB614C8D-20DA-4B04-9530-31051DD532BA}" destId="{D31ED0E2-CC50-4BFF-99C5-F7748E0DC3FC}" srcOrd="4" destOrd="0" presId="urn:microsoft.com/office/officeart/2005/8/layout/default"/>
    <dgm:cxn modelId="{D51F7082-CF55-457D-862E-244257D25009}" type="presParOf" srcId="{DB614C8D-20DA-4B04-9530-31051DD532BA}" destId="{99257416-C8A8-4440-AA6A-63234F6971FA}" srcOrd="5" destOrd="0" presId="urn:microsoft.com/office/officeart/2005/8/layout/default"/>
    <dgm:cxn modelId="{552ED0AC-F2CC-4448-9514-E11E7C752687}" type="presParOf" srcId="{DB614C8D-20DA-4B04-9530-31051DD532BA}" destId="{68C538BE-AEF2-4408-BA81-87FEC947E36C}" srcOrd="6" destOrd="0" presId="urn:microsoft.com/office/officeart/2005/8/layout/default"/>
    <dgm:cxn modelId="{47B8840B-A08E-43B2-AA1D-FB01C29B7EC5}" type="presParOf" srcId="{DB614C8D-20DA-4B04-9530-31051DD532BA}" destId="{FD40DDD5-0F19-428E-99DD-A60E1CAA3728}" srcOrd="7" destOrd="0" presId="urn:microsoft.com/office/officeart/2005/8/layout/default"/>
    <dgm:cxn modelId="{445DED69-E98E-438F-8C5C-47539A762F14}" type="presParOf" srcId="{DB614C8D-20DA-4B04-9530-31051DD532BA}" destId="{F084FA90-C8D2-449B-990F-A645FE97DB4F}" srcOrd="8" destOrd="0" presId="urn:microsoft.com/office/officeart/2005/8/layout/default"/>
    <dgm:cxn modelId="{B3CC7F6F-2490-4518-A136-FE9CECAE2A1A}" type="presParOf" srcId="{DB614C8D-20DA-4B04-9530-31051DD532BA}" destId="{D34DE87D-14F1-401A-A418-46F42C6F8FDD}" srcOrd="9" destOrd="0" presId="urn:microsoft.com/office/officeart/2005/8/layout/default"/>
    <dgm:cxn modelId="{ABA68B86-C0A3-4A9E-AD55-832600339D6B}" type="presParOf" srcId="{DB614C8D-20DA-4B04-9530-31051DD532BA}" destId="{8103633C-58B0-43F3-9DAE-9B8D5374E40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B83B6-B402-4AA0-A907-58E8A4E5F662}">
      <dsp:nvSpPr>
        <dsp:cNvPr id="0" name=""/>
        <dsp:cNvSpPr/>
      </dsp:nvSpPr>
      <dsp:spPr>
        <a:xfrm>
          <a:off x="0" y="244974"/>
          <a:ext cx="2255949" cy="13535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 collections in high-overdue regions</a:t>
          </a:r>
        </a:p>
      </dsp:txBody>
      <dsp:txXfrm>
        <a:off x="0" y="244974"/>
        <a:ext cx="2255949" cy="1353569"/>
      </dsp:txXfrm>
    </dsp:sp>
    <dsp:sp modelId="{62CC8D83-902C-42AA-8031-53402B89D9BA}">
      <dsp:nvSpPr>
        <dsp:cNvPr id="0" name=""/>
        <dsp:cNvSpPr/>
      </dsp:nvSpPr>
      <dsp:spPr>
        <a:xfrm>
          <a:off x="2481543" y="244974"/>
          <a:ext cx="2255949" cy="135356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Optimize slow warehouses</a:t>
          </a:r>
        </a:p>
      </dsp:txBody>
      <dsp:txXfrm>
        <a:off x="2481543" y="244974"/>
        <a:ext cx="2255949" cy="1353569"/>
      </dsp:txXfrm>
    </dsp:sp>
    <dsp:sp modelId="{D31ED0E2-CC50-4BFF-99C5-F7748E0DC3FC}">
      <dsp:nvSpPr>
        <dsp:cNvPr id="0" name=""/>
        <dsp:cNvSpPr/>
      </dsp:nvSpPr>
      <dsp:spPr>
        <a:xfrm>
          <a:off x="4963087" y="244974"/>
          <a:ext cx="2255949" cy="135356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Focus on high-conversion leads</a:t>
          </a:r>
        </a:p>
      </dsp:txBody>
      <dsp:txXfrm>
        <a:off x="4963087" y="244974"/>
        <a:ext cx="2255949" cy="1353569"/>
      </dsp:txXfrm>
    </dsp:sp>
    <dsp:sp modelId="{68C538BE-AEF2-4408-BA81-87FEC947E36C}">
      <dsp:nvSpPr>
        <dsp:cNvPr id="0" name=""/>
        <dsp:cNvSpPr/>
      </dsp:nvSpPr>
      <dsp:spPr>
        <a:xfrm>
          <a:off x="0" y="1824138"/>
          <a:ext cx="2255949" cy="13535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Reallocate overspend budgets</a:t>
          </a:r>
        </a:p>
      </dsp:txBody>
      <dsp:txXfrm>
        <a:off x="0" y="1824138"/>
        <a:ext cx="2255949" cy="1353569"/>
      </dsp:txXfrm>
    </dsp:sp>
    <dsp:sp modelId="{F084FA90-C8D2-449B-990F-A645FE97DB4F}">
      <dsp:nvSpPr>
        <dsp:cNvPr id="0" name=""/>
        <dsp:cNvSpPr/>
      </dsp:nvSpPr>
      <dsp:spPr>
        <a:xfrm>
          <a:off x="2481543" y="1824138"/>
          <a:ext cx="2255949" cy="135356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 data quality controls</a:t>
          </a:r>
        </a:p>
      </dsp:txBody>
      <dsp:txXfrm>
        <a:off x="2481543" y="1824138"/>
        <a:ext cx="2255949" cy="1353569"/>
      </dsp:txXfrm>
    </dsp:sp>
    <dsp:sp modelId="{8103633C-58B0-43F3-9DAE-9B8D5374E40E}">
      <dsp:nvSpPr>
        <dsp:cNvPr id="0" name=""/>
        <dsp:cNvSpPr/>
      </dsp:nvSpPr>
      <dsp:spPr>
        <a:xfrm>
          <a:off x="4963087" y="1824138"/>
          <a:ext cx="2255949" cy="13535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Better cash flow, efficiency, and reporting reliability</a:t>
          </a:r>
        </a:p>
      </dsp:txBody>
      <dsp:txXfrm>
        <a:off x="4963087" y="1824138"/>
        <a:ext cx="2255949" cy="1353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8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1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6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1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7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0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6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9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0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52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23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5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98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82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27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9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9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b="1" i="1">
                <a:solidFill>
                  <a:srgbClr val="EBEBEB"/>
                </a:solidFill>
              </a:rPr>
              <a:t>End-to-End Sales, Operations &amp; Finance Analytics</a:t>
            </a:r>
            <a:endParaRPr lang="en-US" sz="2800" b="1" i="1" dirty="0">
              <a:solidFill>
                <a:srgbClr val="EBEBEB"/>
              </a:solidFill>
            </a:endParaRPr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i="1" u="sng"/>
              <a:t>Business Context:</a:t>
            </a:r>
          </a:p>
          <a:p>
            <a:r>
              <a:rPr lang="en-US" sz="1700"/>
              <a:t>The organization works with multiple raw datasets across sales, operations, CRM, and finance.</a:t>
            </a:r>
          </a:p>
          <a:p>
            <a:pPr marL="0" indent="0">
              <a:buNone/>
            </a:pPr>
            <a:r>
              <a:rPr lang="en-US" sz="1700" b="1" i="1" u="sng"/>
              <a:t>Project Objective:</a:t>
            </a:r>
          </a:p>
          <a:p>
            <a:r>
              <a:rPr lang="en-US" sz="1700"/>
              <a:t>Clean and standardize raw data, perform analysis using Excel, Power BI, and SQL, and implement automation.</a:t>
            </a:r>
          </a:p>
          <a:p>
            <a:pPr marL="0" indent="0">
              <a:buNone/>
            </a:pPr>
            <a:r>
              <a:rPr lang="en-US" sz="1700" b="1" i="1" u="sng"/>
              <a:t>Project Phases:</a:t>
            </a:r>
          </a:p>
          <a:p>
            <a:r>
              <a:rPr lang="en-US" sz="1700"/>
              <a:t> Data Cleaning &amp; Standardization</a:t>
            </a:r>
          </a:p>
          <a:p>
            <a:r>
              <a:rPr lang="en-US" sz="1700"/>
              <a:t> Excel &amp; Pivot Table Analysis</a:t>
            </a:r>
          </a:p>
          <a:p>
            <a:r>
              <a:rPr lang="en-US" sz="1700"/>
              <a:t> Power BI Dashboards</a:t>
            </a:r>
          </a:p>
          <a:p>
            <a:r>
              <a:rPr lang="en-US" sz="1700"/>
              <a:t> SQL-Based Analysis</a:t>
            </a:r>
          </a:p>
          <a:p>
            <a:r>
              <a:rPr lang="en-US" sz="1700"/>
              <a:t> Automation &amp;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b="1" i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Sources &amp; Analytical Tools</a:t>
            </a:r>
          </a:p>
        </p:txBody>
      </p:sp>
      <p:sp>
        <p:nvSpPr>
          <p:cNvPr id="41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17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Sources:</a:t>
            </a:r>
          </a:p>
          <a:p>
            <a:r>
              <a:rPr sz="1700"/>
              <a:t> Sales</a:t>
            </a:r>
          </a:p>
          <a:p>
            <a:r>
              <a:rPr sz="1700"/>
              <a:t> Operations</a:t>
            </a:r>
          </a:p>
          <a:p>
            <a:r>
              <a:rPr sz="1700"/>
              <a:t> CRM</a:t>
            </a:r>
          </a:p>
          <a:p>
            <a:r>
              <a:rPr sz="1700"/>
              <a:t> Finance</a:t>
            </a:r>
          </a:p>
          <a:p>
            <a:endParaRPr sz="1700"/>
          </a:p>
          <a:p>
            <a:pPr marL="0" indent="0">
              <a:buNone/>
            </a:pPr>
            <a:r>
              <a:rPr sz="17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Tools:</a:t>
            </a:r>
          </a:p>
          <a:p>
            <a:r>
              <a:rPr sz="1700"/>
              <a:t>Excel</a:t>
            </a:r>
          </a:p>
          <a:p>
            <a:r>
              <a:rPr sz="1700"/>
              <a:t>Power BI</a:t>
            </a:r>
          </a:p>
          <a:p>
            <a:r>
              <a:rPr sz="1700"/>
              <a:t> SQL (SQLite)</a:t>
            </a:r>
          </a:p>
          <a:p>
            <a:r>
              <a:rPr sz="1700"/>
              <a:t>Google Apps Script</a:t>
            </a:r>
          </a:p>
          <a:p>
            <a:endParaRPr sz="1700"/>
          </a:p>
          <a:p>
            <a:pPr marL="0" indent="0">
              <a:buNone/>
            </a:pPr>
            <a:r>
              <a:rPr sz="17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Workflow:</a:t>
            </a:r>
          </a:p>
          <a:p>
            <a:r>
              <a:rPr sz="1700"/>
              <a:t>Raw CSV → Cleaned Excel → Pivot Tables → Power BI → SQL → Automated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i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Business Insights from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603500"/>
            <a:ext cx="2610790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Insights:</a:t>
            </a:r>
          </a:p>
          <a:p>
            <a:r>
              <a:rPr lang="en-US" sz="1400" b="1" dirty="0"/>
              <a:t>Revenue concentration among top customers</a:t>
            </a:r>
          </a:p>
          <a:p>
            <a:r>
              <a:rPr lang="en-US" sz="1400" b="1" dirty="0"/>
              <a:t>Regional overdue exposure</a:t>
            </a:r>
          </a:p>
          <a:p>
            <a:r>
              <a:rPr lang="en-US" sz="1400" b="1" dirty="0"/>
              <a:t>Warehouse fulfillment variation</a:t>
            </a:r>
          </a:p>
          <a:p>
            <a:r>
              <a:rPr lang="en-US" sz="1400" b="1" dirty="0"/>
              <a:t>Lead conversion differences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7A08A-FC92-D049-F160-8692307B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38" r="993" b="2"/>
          <a:stretch>
            <a:fillRect/>
          </a:stretch>
        </p:blipFill>
        <p:spPr>
          <a:xfrm>
            <a:off x="3738717" y="2775954"/>
            <a:ext cx="4619101" cy="306715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 sz="3000"/>
              <a:t>SQL Analysis: Use Cases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603500"/>
            <a:ext cx="4797985" cy="34163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Cases:</a:t>
            </a:r>
          </a:p>
          <a:p>
            <a:pPr>
              <a:lnSpc>
                <a:spcPct val="90000"/>
              </a:lnSpc>
            </a:pPr>
            <a:r>
              <a:rPr lang="en-US" sz="1300"/>
              <a:t>Top customers by revenue</a:t>
            </a:r>
          </a:p>
          <a:p>
            <a:pPr>
              <a:lnSpc>
                <a:spcPct val="90000"/>
              </a:lnSpc>
            </a:pPr>
            <a:r>
              <a:rPr lang="en-US" sz="1300"/>
              <a:t>Overdue by region</a:t>
            </a:r>
          </a:p>
          <a:p>
            <a:pPr>
              <a:lnSpc>
                <a:spcPct val="90000"/>
              </a:lnSpc>
            </a:pPr>
            <a:r>
              <a:rPr lang="en-US" sz="1300"/>
              <a:t>Conversion funnel</a:t>
            </a:r>
          </a:p>
          <a:p>
            <a:pPr>
              <a:lnSpc>
                <a:spcPct val="90000"/>
              </a:lnSpc>
            </a:pPr>
            <a:r>
              <a:rPr lang="en-US" sz="1300"/>
              <a:t>Warehouse fulfillment</a:t>
            </a:r>
          </a:p>
          <a:p>
            <a:pPr>
              <a:lnSpc>
                <a:spcPct val="90000"/>
              </a:lnSpc>
            </a:pPr>
            <a:r>
              <a:rPr lang="en-US" sz="1300"/>
              <a:t>Budget utilization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Findings:</a:t>
            </a:r>
          </a:p>
          <a:p>
            <a:pPr>
              <a:lnSpc>
                <a:spcPct val="90000"/>
              </a:lnSpc>
            </a:pPr>
            <a:r>
              <a:rPr lang="en-US" sz="1300"/>
              <a:t> High-value customers drive majority revenue</a:t>
            </a:r>
          </a:p>
          <a:p>
            <a:pPr>
              <a:lnSpc>
                <a:spcPct val="90000"/>
              </a:lnSpc>
            </a:pPr>
            <a:r>
              <a:rPr lang="en-US" sz="1300"/>
              <a:t> Certain regions have higher overdue risk</a:t>
            </a:r>
          </a:p>
          <a:p>
            <a:pPr>
              <a:lnSpc>
                <a:spcPct val="90000"/>
              </a:lnSpc>
            </a:pPr>
            <a:r>
              <a:rPr lang="en-US" sz="1300"/>
              <a:t>Fulfillment efficiency varies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BA8C31-8910-1889-8172-037F597D2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686" b="1"/>
          <a:stretch>
            <a:fillRect/>
          </a:stretch>
        </p:blipFill>
        <p:spPr>
          <a:xfrm>
            <a:off x="5112775" y="2407276"/>
            <a:ext cx="3448664" cy="380874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Automation Implemented: Logic &amp; Business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DA1D3-4C31-EDE2-67F1-F4F8DB409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02" r="37947" b="1"/>
          <a:stretch>
            <a:fillRect/>
          </a:stretch>
        </p:blipFill>
        <p:spPr>
          <a:xfrm>
            <a:off x="5080883" y="480060"/>
            <a:ext cx="3697356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3" y="2418735"/>
            <a:ext cx="4601560" cy="3549446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Automation: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 Automated refresh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Automated dashboard updates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 Automated reporting</a:t>
            </a:r>
          </a:p>
          <a:p>
            <a:pPr>
              <a:lnSpc>
                <a:spcPct val="90000"/>
              </a:lnSpc>
            </a:pPr>
            <a:endParaRPr lang="en-US" sz="10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Logic: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Trigger → Fetch Data → Refresh → 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Update Dashboards → Share Reports</a:t>
            </a:r>
          </a:p>
          <a:p>
            <a:pPr>
              <a:lnSpc>
                <a:spcPct val="90000"/>
              </a:lnSpc>
            </a:pPr>
            <a:endParaRPr lang="en-US" sz="10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Business Impact: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 Reduced manual effort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 Faster reporting</a:t>
            </a:r>
          </a:p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</a:rPr>
              <a:t>Improved consistency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7560030" cy="10812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 spc="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Recommendations &amp; Next Steps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3056D9C6-557F-78F1-6F3C-16B04C71A2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972694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69</TotalTime>
  <Words>264</Words>
  <Application>Microsoft Office PowerPoint</Application>
  <PresentationFormat>On-screen Show (4:3)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End-to-End Sales, Operations &amp; Finance Analytics</vt:lpstr>
      <vt:lpstr>Data Sources &amp; Analytical Tools</vt:lpstr>
      <vt:lpstr>Key Business Insights from Dashboards</vt:lpstr>
      <vt:lpstr>SQL Analysis: Use Cases &amp; Findings</vt:lpstr>
      <vt:lpstr>Automation Implemented: Logic &amp; Business Impact</vt:lpstr>
      <vt:lpstr>Key Recommendations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2026-01-26T09:42:12Z</dcterms:modified>
  <cp:category/>
</cp:coreProperties>
</file>